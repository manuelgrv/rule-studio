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7e7f5ae97d4a78" /><Relationship Type="http://schemas.openxmlformats.org/officeDocument/2006/relationships/extended-properties" Target="/docProps/app.xml" Id="R4a70192d9a814018" /><Relationship Type="http://schemas.openxmlformats.org/officeDocument/2006/relationships/officeDocument" Target="/ppt/presentation.xml" Id="Reec381d2f6cd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7bb5130a6f433c"/>
  </p:sldMasterIdLst>
  <p:notesMasterIdLst>
    <p:notesMasterId xmlns:r="http://schemas.openxmlformats.org/officeDocument/2006/relationships" r:id="R135122833bb545fc"/>
  </p:notesMasterIdLst>
  <p:sldIdLst>
    <p:sldId xmlns:r="http://schemas.openxmlformats.org/officeDocument/2006/relationships" id="256" r:id="Rb6b3e2d84e63479d"/>
    <p:sldId xmlns:r="http://schemas.openxmlformats.org/officeDocument/2006/relationships" id="257" r:id="Rb46d814e7f8c420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751165b5b429c" /><Relationship Type="http://schemas.openxmlformats.org/officeDocument/2006/relationships/slideMaster" Target="/ppt/slideMasters/slideMaster1.xml" Id="Rda7bb5130a6f433c" /><Relationship Type="http://schemas.openxmlformats.org/officeDocument/2006/relationships/notesMaster" Target="/ppt/notesMasters/notesMaster1.xml" Id="R135122833bb545fc" /><Relationship Type="http://schemas.openxmlformats.org/officeDocument/2006/relationships/presProps" Target="/ppt/presProps.xml" Id="R044df021f6ee48a7" /><Relationship Type="http://schemas.openxmlformats.org/officeDocument/2006/relationships/tableStyles" Target="/ppt/tableStyles.xml" Id="R78041a0ed12a4a50" /><Relationship Type="http://schemas.openxmlformats.org/officeDocument/2006/relationships/slide" Target="/ppt/slides/slide1.xml" Id="Rb6b3e2d84e63479d" /><Relationship Type="http://schemas.openxmlformats.org/officeDocument/2006/relationships/slide" Target="/ppt/slides/slide2.xml" Id="Rb46d814e7f8c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565e09100a4f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1a45b1a4e9455e" /><Relationship Type="http://schemas.openxmlformats.org/officeDocument/2006/relationships/notesMaster" Target="/ppt/notesMasters/notesMaster1.xml" Id="Rd33b4cad73b5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5d3b54fdaa474d" /><Relationship Type="http://schemas.openxmlformats.org/officeDocument/2006/relationships/notesMaster" Target="/ppt/notesMasters/notesMaster1.xml" Id="R168520ad9b12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proyecto: README.md, docs/modulos-vigentes.md, docs/cierre-de-diseno.md, docs/data-contracts.md y docs/demo-sites.md. La demo vigente usa Sites, D1, Pyodide y DuckDB-WASM; las referencias antiguas a FastAPI en la demo local no describen el sitio publicado. Los 30 millones son un objetivo de capacidad, no un benchmark validado. Los perfiles de la demo son simulados y no representan control de acceso productivo. Las excepciones de negocio se expresan mediante reglas. La UI no opera jobs productivos.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docs/architecture.md, docs/entornos-y-operacion.md, docs/data-contracts.md, docs/modulos-vigentes.md y docs/c4/architecture.c4. Diagrama objetivo, no afirmación de despliegue implementado. Lakebase persiste autoría y gobierno; las salidas aprobadas permanecen en prod. edv ejecuta experimentos bajo demanda. La UI termina con la publicación de DSL y no programa ni dispara lotes productivos. Los puertos A enlazan publicación y registro sin cruzar el diagrama. El registro suministra ambos DSL al proceso consumidor; el paquete fija dependencias. Tanto materializador como motor importan rule_manager desde Artifactory al preparar el entorno, no por cliente. El motor usa input consolidado, DSL de variables y DSL de evaluación. Una regla válida devuelve booleano; null en salida representa error técnico y los productos independientes continúan. Input compartido entre productos, clave lógica execution_id/date/client/version; date es la fecha de procesamiento. Una versión productiva vigente de inputs y una evaluación vigente por producto. Nombres de tablas físicos y operación productiva se concretan en integración. Demo actual: React/Vinext en Sites, API Workers y D1, Pyodide + DuckDB-WASM en navegador; notebook local con DuckDB y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52ecdc90c42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d08ed18a04bbf" /><Relationship Type="http://schemas.openxmlformats.org/officeDocument/2006/relationships/slideLayout" Target="/ppt/slideLayouts/slideLayout1.xml" Id="Rf3b9ca01644d41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b9ca01644d41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669fb578c4276" /><Relationship Type="http://schemas.openxmlformats.org/officeDocument/2006/relationships/notesSlide" Target="/ppt/notesSlides/notesSlide1.xml" Id="Rb7cee94ca44d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6f3eee0824b52" /><Relationship Type="http://schemas.openxmlformats.org/officeDocument/2006/relationships/notesSlide" Target="/ppt/notesSlides/notesSlide2.xml" Id="Rc7f646cf76df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node-1">
            <a:extLst xmlns:a="http://schemas.openxmlformats.org/drawingml/2006/main">
              <a:ext uri="{FF2B5EF4-FFF2-40B4-BE49-F238E27FC236}">
                <a16:creationId xmlns:a16="http://schemas.microsoft.com/office/drawing/2014/main" id="{4726BD67-D2D5-4AC3-ACB5-31EC37ED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681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Rule Studio</a:t>
            </a:r>
          </a:p>
        </p:txBody>
      </p:sp>
      <p:sp>
        <p:nvSpPr>
          <p:cNvPr id="2" name="node-2">
            <a:extLst xmlns:a="http://schemas.openxmlformats.org/drawingml/2006/main">
              <a:ext uri="{FF2B5EF4-FFF2-40B4-BE49-F238E27FC236}">
                <a16:creationId xmlns:a16="http://schemas.microsoft.com/office/drawing/2014/main" id="{80D5DB3A-2E6B-413C-B3F5-1FBEA77A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Definición y gobierno de reglas de aprobación por cliente y producto</a:t>
            </a:r>
          </a:p>
        </p:txBody>
      </p:sp>
      <p:sp>
        <p:nvSpPr>
          <p:cNvPr id="3" name="node-3">
            <a:extLst xmlns:a="http://schemas.openxmlformats.org/drawingml/2006/main">
              <a:ext uri="{FF2B5EF4-FFF2-40B4-BE49-F238E27FC236}">
                <a16:creationId xmlns:a16="http://schemas.microsoft.com/office/drawing/2014/main" id="{798E5ACB-DDAA-4A34-882B-76546B8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400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node-4">
            <a:extLst xmlns:a="http://schemas.openxmlformats.org/drawingml/2006/main">
              <a:ext uri="{FF2B5EF4-FFF2-40B4-BE49-F238E27FC236}">
                <a16:creationId xmlns:a16="http://schemas.microsoft.com/office/drawing/2014/main" id="{519AACEC-1513-4991-820D-54EAC8F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33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Los equipos definen criterios sobre un input compartido, prueban su comportamiento y publican versiones aprobadas. Cada decisión conserva las reglas y variables que la explican.</a:t>
            </a:r>
          </a:p>
        </p:txBody>
      </p:sp>
      <p:sp>
        <p:nvSpPr>
          <p:cNvPr id="5" name="node-5">
            <a:extLst xmlns:a="http://schemas.openxmlformats.org/drawingml/2006/main">
              <a:ext uri="{FF2B5EF4-FFF2-40B4-BE49-F238E27FC236}">
                <a16:creationId xmlns:a16="http://schemas.microsoft.com/office/drawing/2014/main" id="{9A11AD07-6708-4F33-9F8A-70EDB86A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04825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5240">
            <a:solidFill>
              <a:srgbClr val="829AAF"/>
            </a:solidFill>
          </a:ln>
        </p:spPr>
      </p:sp>
      <p:sp>
        <p:nvSpPr>
          <p:cNvPr id="6" name="node-6">
            <a:extLst xmlns:a="http://schemas.openxmlformats.org/drawingml/2006/main">
              <a:ext uri="{FF2B5EF4-FFF2-40B4-BE49-F238E27FC236}">
                <a16:creationId xmlns:a16="http://schemas.microsoft.com/office/drawing/2014/main" id="{B3A47DE1-C929-478A-ACDE-8C17922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1   Selección de inputs</a:t>
            </a:r>
          </a:p>
        </p:txBody>
      </p:sp>
      <p:sp>
        <p:nvSpPr>
          <p:cNvPr id="7" name="node-7">
            <a:extLst xmlns:a="http://schemas.openxmlformats.org/drawingml/2006/main">
              <a:ext uri="{FF2B5EF4-FFF2-40B4-BE49-F238E27FC236}">
                <a16:creationId xmlns:a16="http://schemas.microsoft.com/office/drawing/2014/main" id="{914567C5-6444-4599-BED4-2017C6A2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7053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Catálogo de campos por cliente.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Tipos y uniones 1:1 / 1:N.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Objetos y listas en un input común.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DSL de inputs en JSON</a:t>
            </a:r>
          </a:p>
        </p:txBody>
      </p:sp>
      <p:sp>
        <p:nvSpPr>
          <p:cNvPr id="8" name="node-8">
            <a:extLst xmlns:a="http://schemas.openxmlformats.org/drawingml/2006/main">
              <a:ext uri="{FF2B5EF4-FFF2-40B4-BE49-F238E27FC236}">
                <a16:creationId xmlns:a16="http://schemas.microsoft.com/office/drawing/2014/main" id="{68F2F40C-23F0-4706-AA90-FA89FAF8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504825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5240">
            <a:solidFill>
              <a:srgbClr val="829AAF"/>
            </a:solidFill>
          </a:ln>
        </p:spPr>
      </p:sp>
      <p:sp>
        <p:nvSpPr>
          <p:cNvPr id="9" name="node-9">
            <a:extLst xmlns:a="http://schemas.openxmlformats.org/drawingml/2006/main">
              <a:ext uri="{FF2B5EF4-FFF2-40B4-BE49-F238E27FC236}">
                <a16:creationId xmlns:a16="http://schemas.microsoft.com/office/drawing/2014/main" id="{19C74546-2344-49B5-AFC7-6CF0156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2   Variables virtuales</a:t>
            </a:r>
          </a:p>
        </p:txBody>
      </p:sp>
      <p:sp>
        <p:nvSpPr>
          <p:cNvPr id="10" name="node-10">
            <a:extLst xmlns:a="http://schemas.openxmlformats.org/drawingml/2006/main">
              <a:ext uri="{FF2B5EF4-FFF2-40B4-BE49-F238E27FC236}">
                <a16:creationId xmlns:a16="http://schemas.microsoft.com/office/drawing/2014/main" id="{10AF3619-C04D-46D7-A5E4-1800EF1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47053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Cálculos sobre el input del cliente.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Variables encadenadas y linaje.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Agregaciones sobre listas.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Variables en el paquete JSON</a:t>
            </a:r>
          </a:p>
        </p:txBody>
      </p:sp>
      <p:sp>
        <p:nvSpPr>
          <p:cNvPr id="11" name="node-11">
            <a:extLst xmlns:a="http://schemas.openxmlformats.org/drawingml/2006/main">
              <a:ext uri="{FF2B5EF4-FFF2-40B4-BE49-F238E27FC236}">
                <a16:creationId xmlns:a16="http://schemas.microsoft.com/office/drawing/2014/main" id="{7D419938-692A-427E-BF7C-D20482D8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476625"/>
            <a:ext cx="504825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5240">
            <a:solidFill>
              <a:srgbClr val="829AAF"/>
            </a:solidFill>
          </a:ln>
        </p:spPr>
      </p:sp>
      <p:sp>
        <p:nvSpPr>
          <p:cNvPr id="12" name="node-12">
            <a:extLst xmlns:a="http://schemas.openxmlformats.org/drawingml/2006/main">
              <a:ext uri="{FF2B5EF4-FFF2-40B4-BE49-F238E27FC236}">
                <a16:creationId xmlns:a16="http://schemas.microsoft.com/office/drawing/2014/main" id="{65BEF843-704A-433D-A0A9-B37FE1FE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61950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3   Estudio de reglas</a:t>
            </a:r>
          </a:p>
        </p:txBody>
      </p:sp>
      <p:sp>
        <p:nvSpPr>
          <p:cNvPr id="13" name="node-13">
            <a:extLst xmlns:a="http://schemas.openxmlformats.org/drawingml/2006/main">
              <a:ext uri="{FF2B5EF4-FFF2-40B4-BE49-F238E27FC236}">
                <a16:creationId xmlns:a16="http://schemas.microsoft.com/office/drawing/2014/main" id="{EA22FB8E-E95B-473A-97FA-D5B68543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943350"/>
            <a:ext cx="47053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Reglas visuales o Python / SQL.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Resultados booleanos por regla.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Productos con operadores lógicos.</a:t>
            </a:r>
          </a:p>
          <a:p xmlns:a="http://schemas.openxmlformats.org/drawingml/2006/main">
            <a:pPr algn="l">
              <a:def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Paquete de evaluación en JSON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34050" y="45624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1658600" y="45624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sp>
        <p:nvSpPr>
          <p:cNvPr id="16" name="node-14">
            <a:extLst xmlns:a="http://schemas.openxmlformats.org/drawingml/2006/main">
              <a:ext uri="{FF2B5EF4-FFF2-40B4-BE49-F238E27FC236}">
                <a16:creationId xmlns:a16="http://schemas.microsoft.com/office/drawing/2014/main" id="{144F82BE-8DBB-4E70-98A1-F395EED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5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Publicación con aprobación independiente</a:t>
            </a:r>
          </a:p>
        </p:txBody>
      </p:sp>
      <p:sp>
        <p:nvSpPr>
          <p:cNvPr id="17" name="node-15">
            <a:extLst xmlns:a="http://schemas.openxmlformats.org/drawingml/2006/main">
              <a:ext uri="{FF2B5EF4-FFF2-40B4-BE49-F238E27FC236}">
                <a16:creationId xmlns:a16="http://schemas.microsoft.com/office/drawing/2014/main" id="{0C23524E-C4AB-40B3-9AC8-F6B8B280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0"/>
            <a:ext cx="785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Permisos de autoría por módulo y aprobación del input o del paquete completo. Una definición de input vigente y una evaluación vigente por producto.</a:t>
            </a:r>
          </a:p>
        </p:txBody>
      </p:sp>
      <p:sp>
        <p:nvSpPr>
          <p:cNvPr id="18" name="node-16">
            <a:extLst xmlns:a="http://schemas.openxmlformats.org/drawingml/2006/main">
              <a:ext uri="{FF2B5EF4-FFF2-40B4-BE49-F238E27FC236}">
                <a16:creationId xmlns:a16="http://schemas.microsoft.com/office/drawing/2014/main" id="{7F6ED1A1-C02D-42A1-855B-21FA1185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795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Decisiones con evidencia por ejecución</a:t>
            </a:r>
          </a:p>
        </p:txBody>
      </p:sp>
      <p:sp>
        <p:nvSpPr>
          <p:cNvPr id="19" name="node-17">
            <a:extLst xmlns:a="http://schemas.openxmlformats.org/drawingml/2006/main">
              <a:ext uri="{FF2B5EF4-FFF2-40B4-BE49-F238E27FC236}">
                <a16:creationId xmlns:a16="http://schemas.microsoft.com/office/drawing/2014/main" id="{7BEC4282-D189-47DE-A445-2BDDE2BD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62750"/>
            <a:ext cx="7953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Tres salidas: evaluaciones por cliente y producto, variables materializadas y reglas con sus resultados. Los errores aislables quedan en null con diagnóstico.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9647A-25FD-47A9-85FB-E284693E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72450"/>
            <a:ext cx="169164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7D3DD"/>
            </a:solidFill>
          </a:ln>
        </p:spPr>
      </p:sp>
      <p:sp>
        <p:nvSpPr>
          <p:cNvPr id="21" name="node-18">
            <a:extLst xmlns:a="http://schemas.openxmlformats.org/drawingml/2006/main">
              <a:ext uri="{FF2B5EF4-FFF2-40B4-BE49-F238E27FC236}">
                <a16:creationId xmlns:a16="http://schemas.microsoft.com/office/drawing/2014/main" id="{AF8F858C-ACF1-4C70-8088-B0ADCA8D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582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Demo disponible</a:t>
            </a:r>
          </a:p>
        </p:txBody>
      </p:sp>
      <p:sp>
        <p:nvSpPr>
          <p:cNvPr id="22" name="node-19">
            <a:extLst xmlns:a="http://schemas.openxmlformats.org/drawingml/2006/main">
              <a:ext uri="{FF2B5EF4-FFF2-40B4-BE49-F238E27FC236}">
                <a16:creationId xmlns:a16="http://schemas.microsoft.com/office/drawing/2014/main" id="{0227813D-CAA3-4164-9078-BF7930F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448675"/>
            <a:ext cx="1338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30.000 clientes sintéticos, 8 tablas y 78 rutas seleccionables. Sites aloja la web y el guardado en D1.</a:t>
            </a:r>
          </a:p>
          <a:p xmlns:a="http://schemas.openxmlformats.org/drawingml/2006/main">
            <a:pPr algn="l">
              <a:def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Pyodide ejecuta la biblioteca Python y DuckDB-WASM procesa datos en el navegador, sin iniciar sesión.</a:t>
            </a:r>
          </a:p>
        </p:txBody>
      </p:sp>
      <p:sp>
        <p:nvSpPr>
          <p:cNvPr id="23" name="node-20">
            <a:extLst xmlns:a="http://schemas.openxmlformats.org/drawingml/2006/main">
              <a:ext uri="{FF2B5EF4-FFF2-40B4-BE49-F238E27FC236}">
                <a16:creationId xmlns:a16="http://schemas.microsoft.com/office/drawing/2014/main" id="{1FBB8B84-393D-4413-BC1D-19CC2517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44050"/>
            <a:ext cx="1691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Destino: Databricks Apps, Lakebase, lakehouse edv/prod y Artifactory. Integración y escala a 30 millones pendientes de validar.</a:t>
            </a:r>
          </a:p>
        </p:txBody>
      </p:sp>
    </p:spTree>
    <p:extLst>
      <p:ext uri="{BB962C8B-B14F-4D97-AF65-F5344CB8AC3E}">
        <p14:creationId xmlns:p14="http://schemas.microsoft.com/office/powerpoint/2010/main" val="993605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node-21">
            <a:extLst xmlns:a="http://schemas.openxmlformats.org/drawingml/2006/main">
              <a:ext uri="{FF2B5EF4-FFF2-40B4-BE49-F238E27FC236}">
                <a16:creationId xmlns:a16="http://schemas.microsoft.com/office/drawing/2014/main" id="{8AE7B70B-96B7-4FB0-8F8D-39F0910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681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Arquitectura completa de la solución</a:t>
            </a:r>
          </a:p>
        </p:txBody>
      </p:sp>
      <p:sp>
        <p:nvSpPr>
          <p:cNvPr id="2" name="node-22">
            <a:extLst xmlns:a="http://schemas.openxmlformats.org/drawingml/2006/main">
              <a:ext uri="{FF2B5EF4-FFF2-40B4-BE49-F238E27FC236}">
                <a16:creationId xmlns:a16="http://schemas.microsoft.com/office/drawing/2014/main" id="{C8ACDCDF-03F6-4A3B-8419-58EEF888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Arquitectura objetivo en Databricks. El flujo productivo termina en las tablas de resultados y trazabilidad.</a:t>
            </a:r>
          </a:p>
        </p:txBody>
      </p:sp>
      <p:sp>
        <p:nvSpPr>
          <p:cNvPr id="3" name="node-23">
            <a:extLst xmlns:a="http://schemas.openxmlformats.org/drawingml/2006/main">
              <a:ext uri="{FF2B5EF4-FFF2-40B4-BE49-F238E27FC236}">
                <a16:creationId xmlns:a16="http://schemas.microsoft.com/office/drawing/2014/main" id="{2DD50B56-922B-4D1B-909B-EA726C8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400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node-24">
            <a:extLst xmlns:a="http://schemas.openxmlformats.org/drawingml/2006/main">
              <a:ext uri="{FF2B5EF4-FFF2-40B4-BE49-F238E27FC236}">
                <a16:creationId xmlns:a16="http://schemas.microsoft.com/office/drawing/2014/main" id="{1E89DC6D-01F4-4B4A-ABFC-1481F312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Autores de inputs, variables y reglas</a:t>
            </a:r>
          </a:p>
        </p:txBody>
      </p:sp>
      <p:sp>
        <p:nvSpPr>
          <p:cNvPr id="5" name="node-25">
            <a:extLst xmlns:a="http://schemas.openxmlformats.org/drawingml/2006/main">
              <a:ext uri="{FF2B5EF4-FFF2-40B4-BE49-F238E27FC236}">
                <a16:creationId xmlns:a16="http://schemas.microsoft.com/office/drawing/2014/main" id="{A7C105DA-D0A6-46C3-A10E-735ABCC7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7265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2654E"/>
                </a:solidFill>
                <a:latin typeface="Helvetica Neue"/>
                <a:ea typeface="Helvetica Neue"/>
                <a:cs typeface="Helvetica Neue"/>
              </a:rPr>
              <a:t>Aprobadores independientes por permiso</a:t>
            </a:r>
          </a:p>
        </p:txBody>
      </p:sp>
      <p:sp>
        <p:nvSpPr>
          <p:cNvPr id="6" name="node-26">
            <a:extLst xmlns:a="http://schemas.openxmlformats.org/drawingml/2006/main">
              <a:ext uri="{FF2B5EF4-FFF2-40B4-BE49-F238E27FC236}">
                <a16:creationId xmlns:a16="http://schemas.microsoft.com/office/drawing/2014/main" id="{ACE3D52D-2B42-4286-A92C-DB2D41F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16395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5240">
            <a:solidFill>
              <a:srgbClr val="829AAF"/>
            </a:solidFill>
          </a:ln>
        </p:spPr>
      </p:sp>
      <p:sp>
        <p:nvSpPr>
          <p:cNvPr id="7" name="node-27">
            <a:extLst xmlns:a="http://schemas.openxmlformats.org/drawingml/2006/main">
              <a:ext uri="{FF2B5EF4-FFF2-40B4-BE49-F238E27FC236}">
                <a16:creationId xmlns:a16="http://schemas.microsoft.com/office/drawing/2014/main" id="{DBDED32E-F93C-4047-8E16-A1F4816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DATABRICKS APPS</a:t>
            </a:r>
          </a:p>
        </p:txBody>
      </p:sp>
      <p:sp>
        <p:nvSpPr>
          <p:cNvPr id="8" name="node-28">
            <a:extLst xmlns:a="http://schemas.openxmlformats.org/drawingml/2006/main">
              <a:ext uri="{FF2B5EF4-FFF2-40B4-BE49-F238E27FC236}">
                <a16:creationId xmlns:a16="http://schemas.microsoft.com/office/drawing/2014/main" id="{8FA52135-3144-4B80-BCC7-50723075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76475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SPA React / TypeScript + shadcn/ui</a:t>
            </a:r>
          </a:p>
        </p:txBody>
      </p:sp>
      <p:sp>
        <p:nvSpPr>
          <p:cNvPr id="9" name="node-29">
            <a:extLst xmlns:a="http://schemas.openxmlformats.org/drawingml/2006/main">
              <a:ext uri="{FF2B5EF4-FFF2-40B4-BE49-F238E27FC236}">
                <a16:creationId xmlns:a16="http://schemas.microsoft.com/office/drawing/2014/main" id="{08292A3D-AD97-46E7-A68A-591ED411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4290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5240">
            <a:solidFill>
              <a:srgbClr val="829AAF"/>
            </a:solidFill>
          </a:ln>
        </p:spPr>
      </p:sp>
      <p:sp>
        <p:nvSpPr>
          <p:cNvPr id="10" name="node-30">
            <a:extLst xmlns:a="http://schemas.openxmlformats.org/drawingml/2006/main">
              <a:ext uri="{FF2B5EF4-FFF2-40B4-BE49-F238E27FC236}">
                <a16:creationId xmlns:a16="http://schemas.microsoft.com/office/drawing/2014/main" id="{10011AD5-0C11-4EC2-AB1A-5822D5C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1. Inputs</a:t>
            </a:r>
          </a:p>
        </p:txBody>
      </p:sp>
      <p:sp>
        <p:nvSpPr>
          <p:cNvPr id="11" name="node-31">
            <a:extLst xmlns:a="http://schemas.openxmlformats.org/drawingml/2006/main">
              <a:ext uri="{FF2B5EF4-FFF2-40B4-BE49-F238E27FC236}">
                <a16:creationId xmlns:a16="http://schemas.microsoft.com/office/drawing/2014/main" id="{A3566605-78B3-4542-9592-A800F83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Catálogo, tipos, campos y joins</a:t>
            </a:r>
          </a:p>
        </p:txBody>
      </p:sp>
      <p:sp>
        <p:nvSpPr>
          <p:cNvPr id="12" name="node-32">
            <a:extLst xmlns:a="http://schemas.openxmlformats.org/drawingml/2006/main">
              <a:ext uri="{FF2B5EF4-FFF2-40B4-BE49-F238E27FC236}">
                <a16:creationId xmlns:a16="http://schemas.microsoft.com/office/drawing/2014/main" id="{0FE7E1CF-B385-437A-8AAE-8723FE7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34290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5240">
            <a:solidFill>
              <a:srgbClr val="829AAF"/>
            </a:solidFill>
          </a:ln>
        </p:spPr>
      </p:sp>
      <p:sp>
        <p:nvSpPr>
          <p:cNvPr id="13" name="node-33">
            <a:extLst xmlns:a="http://schemas.openxmlformats.org/drawingml/2006/main">
              <a:ext uri="{FF2B5EF4-FFF2-40B4-BE49-F238E27FC236}">
                <a16:creationId xmlns:a16="http://schemas.microsoft.com/office/drawing/2014/main" id="{E22CE4A5-1218-4102-A331-7BB6D61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28925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2. Variables virtuales</a:t>
            </a:r>
          </a:p>
        </p:txBody>
      </p:sp>
      <p:sp>
        <p:nvSpPr>
          <p:cNvPr id="14" name="node-34">
            <a:extLst xmlns:a="http://schemas.openxmlformats.org/drawingml/2006/main">
              <a:ext uri="{FF2B5EF4-FFF2-40B4-BE49-F238E27FC236}">
                <a16:creationId xmlns:a16="http://schemas.microsoft.com/office/drawing/2014/main" id="{E30045BD-EABC-4033-AFA6-8366CC8F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527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Cálculos y catálogo con linaje</a:t>
            </a:r>
          </a:p>
        </p:txBody>
      </p:sp>
      <p:sp>
        <p:nvSpPr>
          <p:cNvPr id="15" name="node-35">
            <a:extLst xmlns:a="http://schemas.openxmlformats.org/drawingml/2006/main">
              <a:ext uri="{FF2B5EF4-FFF2-40B4-BE49-F238E27FC236}">
                <a16:creationId xmlns:a16="http://schemas.microsoft.com/office/drawing/2014/main" id="{7A0D5B5A-6E20-447F-A7E3-12CFF935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3524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5240">
            <a:solidFill>
              <a:srgbClr val="829AAF"/>
            </a:solidFill>
          </a:ln>
        </p:spPr>
      </p:sp>
      <p:sp>
        <p:nvSpPr>
          <p:cNvPr id="16" name="node-36">
            <a:extLst xmlns:a="http://schemas.openxmlformats.org/drawingml/2006/main">
              <a:ext uri="{FF2B5EF4-FFF2-40B4-BE49-F238E27FC236}">
                <a16:creationId xmlns:a16="http://schemas.microsoft.com/office/drawing/2014/main" id="{6AFAEB0A-E60D-4D81-9D1B-2959DE9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2892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3. Reglas y productos</a:t>
            </a:r>
          </a:p>
        </p:txBody>
      </p:sp>
      <p:sp>
        <p:nvSpPr>
          <p:cNvPr id="17" name="node-37">
            <a:extLst xmlns:a="http://schemas.openxmlformats.org/drawingml/2006/main">
              <a:ext uri="{FF2B5EF4-FFF2-40B4-BE49-F238E27FC236}">
                <a16:creationId xmlns:a16="http://schemas.microsoft.com/office/drawing/2014/main" id="{01312D1B-95D3-4F01-8BF9-B849770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52775"/>
            <a:ext cx="3181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Visual, Python / SQL y lógica</a:t>
            </a:r>
          </a:p>
        </p:txBody>
      </p:sp>
      <p:sp>
        <p:nvSpPr>
          <p:cNvPr id="18" name="node-38">
            <a:extLst xmlns:a="http://schemas.openxmlformats.org/drawingml/2006/main">
              <a:ext uri="{FF2B5EF4-FFF2-40B4-BE49-F238E27FC236}">
                <a16:creationId xmlns:a16="http://schemas.microsoft.com/office/drawing/2014/main" id="{EDAE312D-B47C-4DDD-8D40-69DA75E6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72961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15240">
            <a:solidFill>
              <a:srgbClr val="AB9A7D"/>
            </a:solidFill>
          </a:ln>
        </p:spPr>
      </p:sp>
      <p:sp>
        <p:nvSpPr>
          <p:cNvPr id="19" name="node-39">
            <a:extLst xmlns:a="http://schemas.openxmlformats.org/drawingml/2006/main">
              <a:ext uri="{FF2B5EF4-FFF2-40B4-BE49-F238E27FC236}">
                <a16:creationId xmlns:a16="http://schemas.microsoft.com/office/drawing/2014/main" id="{FD64C61E-6F44-4ACC-B614-757A3C43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API Python: permisos, contratos y compilación compartida</a:t>
            </a:r>
          </a:p>
        </p:txBody>
      </p:sp>
      <p:sp>
        <p:nvSpPr>
          <p:cNvPr id="20" name="node-40">
            <a:extLst xmlns:a="http://schemas.openxmlformats.org/drawingml/2006/main">
              <a:ext uri="{FF2B5EF4-FFF2-40B4-BE49-F238E27FC236}">
                <a16:creationId xmlns:a16="http://schemas.microsoft.com/office/drawing/2014/main" id="{D31BC025-2870-4AEA-84AA-E29B2B76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695325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node-41">
            <a:extLst xmlns:a="http://schemas.openxmlformats.org/drawingml/2006/main">
              <a:ext uri="{FF2B5EF4-FFF2-40B4-BE49-F238E27FC236}">
                <a16:creationId xmlns:a16="http://schemas.microsoft.com/office/drawing/2014/main" id="{685E692E-7180-4915-95AE-7F845BFD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57625"/>
            <a:ext cx="35242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15240">
            <a:solidFill>
              <a:srgbClr val="AB9A7D"/>
            </a:solidFill>
          </a:ln>
        </p:spPr>
      </p:sp>
      <p:sp>
        <p:nvSpPr>
          <p:cNvPr id="22" name="node-42">
            <a:extLst xmlns:a="http://schemas.openxmlformats.org/drawingml/2006/main">
              <a:ext uri="{FF2B5EF4-FFF2-40B4-BE49-F238E27FC236}">
                <a16:creationId xmlns:a16="http://schemas.microsoft.com/office/drawing/2014/main" id="{D277D26A-F15E-4990-8838-2AD9EE1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A  Aprobación y publicación</a:t>
            </a:r>
          </a:p>
        </p:txBody>
      </p:sp>
      <p:sp>
        <p:nvSpPr>
          <p:cNvPr id="23" name="node-43">
            <a:extLst xmlns:a="http://schemas.openxmlformats.org/drawingml/2006/main">
              <a:ext uri="{FF2B5EF4-FFF2-40B4-BE49-F238E27FC236}">
                <a16:creationId xmlns:a16="http://schemas.microsoft.com/office/drawing/2014/main" id="{8AC765B8-D694-45CF-89D5-66F0DFB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24350"/>
            <a:ext cx="318135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node-44">
            <a:extLst xmlns:a="http://schemas.openxmlformats.org/drawingml/2006/main">
              <a:ext uri="{FF2B5EF4-FFF2-40B4-BE49-F238E27FC236}">
                <a16:creationId xmlns:a16="http://schemas.microsoft.com/office/drawing/2014/main" id="{08078681-7C71-4186-8B07-41365CC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266950"/>
            <a:ext cx="4619625" cy="20478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0EDF5"/>
          </a:solidFill>
          <a:ln xmlns:a="http://schemas.openxmlformats.org/drawingml/2006/main" w="15240">
            <a:solidFill>
              <a:srgbClr val="9A8EAC"/>
            </a:solidFill>
          </a:ln>
        </p:spPr>
      </p:sp>
      <p:sp>
        <p:nvSpPr>
          <p:cNvPr id="25" name="node-45">
            <a:extLst xmlns:a="http://schemas.openxmlformats.org/drawingml/2006/main">
              <a:ext uri="{FF2B5EF4-FFF2-40B4-BE49-F238E27FC236}">
                <a16:creationId xmlns:a16="http://schemas.microsoft.com/office/drawing/2014/main" id="{10681790-0D34-418F-A911-19427240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409825"/>
            <a:ext cx="427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Lakebase / PostgreSQL</a:t>
            </a:r>
          </a:p>
        </p:txBody>
      </p:sp>
      <p:sp>
        <p:nvSpPr>
          <p:cNvPr id="26" name="node-46">
            <a:extLst xmlns:a="http://schemas.openxmlformats.org/drawingml/2006/main">
              <a:ext uri="{FF2B5EF4-FFF2-40B4-BE49-F238E27FC236}">
                <a16:creationId xmlns:a16="http://schemas.microsoft.com/office/drawing/2014/main" id="{4B54BC99-61B8-4D68-A17E-5717CB0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733675"/>
            <a:ext cx="4276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Workspaces y borradores por usuario</a:t>
            </a:r>
          </a:p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Catálogo, versiones y revisiones</a:t>
            </a:r>
          </a:p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Propuestas, aprobaciones y auditoría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Experimentación / propuesto / publicado</a:t>
            </a:r>
          </a:p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Rechazo devuelve a experimentación</a:t>
            </a:r>
          </a:p>
        </p:txBody>
      </p:sp>
      <p:cxnSp>
        <p:nvCxnSpPr>
          <p:cNvPr id="105" name=""/>
          <p:cNvCxnSpPr>
            <a:stCxn xmlns:a="http://schemas.openxmlformats.org/drawingml/2006/main" id="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12230100" y="3290888"/>
            <a:ext cx="819150" cy="809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sp>
        <p:nvSpPr>
          <p:cNvPr id="28" name="node-47">
            <a:extLst xmlns:a="http://schemas.openxmlformats.org/drawingml/2006/main">
              <a:ext uri="{FF2B5EF4-FFF2-40B4-BE49-F238E27FC236}">
                <a16:creationId xmlns:a16="http://schemas.microsoft.com/office/drawing/2014/main" id="{98DD75B1-F0CF-4B0D-A411-CF1AC86B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0003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edición</a:t>
            </a:r>
          </a:p>
        </p:txBody>
      </p:sp>
      <p:sp>
        <p:nvSpPr>
          <p:cNvPr id="29" name="node-48">
            <a:extLst xmlns:a="http://schemas.openxmlformats.org/drawingml/2006/main">
              <a:ext uri="{FF2B5EF4-FFF2-40B4-BE49-F238E27FC236}">
                <a16:creationId xmlns:a16="http://schemas.microsoft.com/office/drawing/2014/main" id="{D94A19E5-D254-4B69-B73E-D6C488ED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29146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0EDF5"/>
          </a:solidFill>
          <a:ln xmlns:a="http://schemas.openxmlformats.org/drawingml/2006/main" w="15240">
            <a:solidFill>
              <a:srgbClr val="9A8EAC"/>
            </a:solidFill>
          </a:ln>
        </p:spPr>
      </p:sp>
      <p:sp>
        <p:nvSpPr>
          <p:cNvPr id="30" name="node-49">
            <a:extLst xmlns:a="http://schemas.openxmlformats.org/drawingml/2006/main">
              <a:ext uri="{FF2B5EF4-FFF2-40B4-BE49-F238E27FC236}">
                <a16:creationId xmlns:a16="http://schemas.microsoft.com/office/drawing/2014/main" id="{B38F747C-B55D-4504-AF29-DB614729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JFrog Artifactory</a:t>
            </a:r>
          </a:p>
        </p:txBody>
      </p:sp>
      <p:sp>
        <p:nvSpPr>
          <p:cNvPr id="31" name="node-50">
            <a:extLst xmlns:a="http://schemas.openxmlformats.org/drawingml/2006/main">
              <a:ext uri="{FF2B5EF4-FFF2-40B4-BE49-F238E27FC236}">
                <a16:creationId xmlns:a16="http://schemas.microsoft.com/office/drawing/2014/main" id="{7ACBCC0E-A322-40CC-BE34-FBC9D18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Distribuye paquetes .whl</a:t>
            </a:r>
          </a:p>
        </p:txBody>
      </p:sp>
      <p:sp>
        <p:nvSpPr>
          <p:cNvPr id="32" name="node-51">
            <a:extLst xmlns:a="http://schemas.openxmlformats.org/drawingml/2006/main">
              <a:ext uri="{FF2B5EF4-FFF2-40B4-BE49-F238E27FC236}">
                <a16:creationId xmlns:a16="http://schemas.microsoft.com/office/drawing/2014/main" id="{1D5124C3-0AEF-4B29-87DC-37389B6A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7905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15240">
            <a:solidFill>
              <a:srgbClr val="829E91"/>
            </a:solidFill>
          </a:ln>
        </p:spPr>
      </p:sp>
      <p:sp>
        <p:nvSpPr>
          <p:cNvPr id="33" name="node-52">
            <a:extLst xmlns:a="http://schemas.openxmlformats.org/drawingml/2006/main">
              <a:ext uri="{FF2B5EF4-FFF2-40B4-BE49-F238E27FC236}">
                <a16:creationId xmlns:a16="http://schemas.microsoft.com/office/drawing/2014/main" id="{BB89159F-91CB-449D-BF69-7AFFE54E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62550"/>
            <a:ext cx="7562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Biblioteca rule_manager</a:t>
            </a:r>
          </a:p>
        </p:txBody>
      </p:sp>
      <p:sp>
        <p:nvSpPr>
          <p:cNvPr id="34" name="node-53">
            <a:extLst xmlns:a="http://schemas.openxmlformats.org/drawingml/2006/main">
              <a:ext uri="{FF2B5EF4-FFF2-40B4-BE49-F238E27FC236}">
                <a16:creationId xmlns:a16="http://schemas.microsoft.com/office/drawing/2014/main" id="{3FAC7C1E-71CA-48B9-8D98-4CBAF0A8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7562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AST Python / SQL, validación tipada, DSL y planes de ejecución</a:t>
            </a:r>
          </a:p>
        </p:txBody>
      </p:sp>
      <p:cxnSp>
        <p:nvCxnSpPr>
          <p:cNvPr id="113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505200" y="54578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32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4429125" y="4429125"/>
            <a:ext cx="3619500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9A8EAC"/>
            </a:solidFill>
            <a:prstDash val="dash"/>
            <a:tailEnd type="triangle" w="sm" len="sm"/>
          </a:ln>
        </p:spPr>
      </p:cxnSp>
      <p:sp>
        <p:nvSpPr>
          <p:cNvPr id="37" name="node-54">
            <a:extLst xmlns:a="http://schemas.openxmlformats.org/drawingml/2006/main">
              <a:ext uri="{FF2B5EF4-FFF2-40B4-BE49-F238E27FC236}">
                <a16:creationId xmlns:a16="http://schemas.microsoft.com/office/drawing/2014/main" id="{30E10FC8-4C48-4228-95DD-EE83A85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62550"/>
            <a:ext cx="461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La API y los procesos importan la misma versión.</a:t>
            </a:r>
          </a:p>
          <a:p xmlns:a="http://schemas.openxmlformats.org/drawingml/2006/main">
            <a:pPr algn="l">
              <a:def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La biblioteca no es un servicio independiente.</a:t>
            </a:r>
          </a:p>
        </p:txBody>
      </p:sp>
      <p:sp>
        <p:nvSpPr>
          <p:cNvPr id="38" name="node-55">
            <a:extLst xmlns:a="http://schemas.openxmlformats.org/drawingml/2006/main">
              <a:ext uri="{FF2B5EF4-FFF2-40B4-BE49-F238E27FC236}">
                <a16:creationId xmlns:a16="http://schemas.microsoft.com/office/drawing/2014/main" id="{469CC708-8C39-4F97-9C9C-BFEE23D3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7078325" cy="3457575"/>
          </a:xfrm>
          <a:prstGeom xmlns:a="http://schemas.openxmlformats.org/drawingml/2006/main" prst="roundRect">
            <a:avLst>
              <a:gd name="adj" fmla="val 2755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15240">
            <a:solidFill>
              <a:srgbClr val="77989C"/>
            </a:solidFill>
          </a:ln>
        </p:spPr>
      </p:sp>
      <p:sp>
        <p:nvSpPr>
          <p:cNvPr id="39" name="node-56">
            <a:extLst xmlns:a="http://schemas.openxmlformats.org/drawingml/2006/main">
              <a:ext uri="{FF2B5EF4-FFF2-40B4-BE49-F238E27FC236}">
                <a16:creationId xmlns:a16="http://schemas.microsoft.com/office/drawing/2014/main" id="{F5517EEC-5BAB-4CBC-B011-A3360C9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566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DATABRICKS LAKEHOUSE</a:t>
            </a:r>
          </a:p>
        </p:txBody>
      </p:sp>
      <p:sp>
        <p:nvSpPr>
          <p:cNvPr id="40" name="node-57">
            <a:extLst xmlns:a="http://schemas.openxmlformats.org/drawingml/2006/main">
              <a:ext uri="{FF2B5EF4-FFF2-40B4-BE49-F238E27FC236}">
                <a16:creationId xmlns:a16="http://schemas.microsoft.com/office/drawing/2014/main" id="{A7306CB7-D596-4B7F-9F39-3097FE25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381750"/>
            <a:ext cx="9982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edv: experimentación    /    prod: versiones aprobadas</a:t>
            </a:r>
          </a:p>
        </p:txBody>
      </p:sp>
      <p:sp>
        <p:nvSpPr>
          <p:cNvPr id="41" name="node-58">
            <a:extLst xmlns:a="http://schemas.openxmlformats.org/drawingml/2006/main">
              <a:ext uri="{FF2B5EF4-FFF2-40B4-BE49-F238E27FC236}">
                <a16:creationId xmlns:a16="http://schemas.microsoft.com/office/drawing/2014/main" id="{DAB60C04-A611-4192-A23B-ED773027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91325"/>
            <a:ext cx="5048250" cy="876300"/>
          </a:xfrm>
          <a:prstGeom xmlns:a="http://schemas.openxmlformats.org/drawingml/2006/main" prst="can">
            <a:avLst>
              <a:gd name="adj" fmla="val 6000"/>
            </a:avLst>
          </a:prstGeom>
          <a:solidFill xmlns:a="http://schemas.openxmlformats.org/drawingml/2006/main">
            <a:srgbClr val="E7F1F2"/>
          </a:solidFill>
          <a:ln xmlns:a="http://schemas.openxmlformats.org/drawingml/2006/main" w="15240">
            <a:solidFill>
              <a:srgbClr val="77989C"/>
            </a:solidFill>
          </a:ln>
        </p:spPr>
      </p:sp>
      <p:sp>
        <p:nvSpPr>
          <p:cNvPr id="42" name="node-59">
            <a:extLst xmlns:a="http://schemas.openxmlformats.org/drawingml/2006/main">
              <a:ext uri="{FF2B5EF4-FFF2-40B4-BE49-F238E27FC236}">
                <a16:creationId xmlns:a16="http://schemas.microsoft.com/office/drawing/2014/main" id="{913A1660-CF08-4A02-B3F6-087B518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53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A  Registro de DSL y versiones</a:t>
            </a:r>
          </a:p>
        </p:txBody>
      </p:sp>
      <p:sp>
        <p:nvSpPr>
          <p:cNvPr id="43" name="node-60">
            <a:extLst xmlns:a="http://schemas.openxmlformats.org/drawingml/2006/main">
              <a:ext uri="{FF2B5EF4-FFF2-40B4-BE49-F238E27FC236}">
                <a16:creationId xmlns:a16="http://schemas.microsoft.com/office/drawing/2014/main" id="{5ECE9913-6C1A-4607-9A05-DF2C106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77100"/>
            <a:ext cx="470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Inputs JSON + paquete de variables / evaluaciones</a:t>
            </a:r>
          </a:p>
        </p:txBody>
      </p:sp>
      <p:sp>
        <p:nvSpPr>
          <p:cNvPr id="44" name="node-61">
            <a:extLst xmlns:a="http://schemas.openxmlformats.org/drawingml/2006/main">
              <a:ext uri="{FF2B5EF4-FFF2-40B4-BE49-F238E27FC236}">
                <a16:creationId xmlns:a16="http://schemas.microsoft.com/office/drawing/2014/main" id="{6F4CEC19-A050-45B1-B058-B834C243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791325"/>
            <a:ext cx="57912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6F1E7"/>
          </a:solidFill>
          <a:ln xmlns:a="http://schemas.openxmlformats.org/drawingml/2006/main" w="15240">
            <a:solidFill>
              <a:srgbClr val="AB9A7D"/>
            </a:solidFill>
          </a:ln>
        </p:spPr>
      </p:sp>
      <p:sp>
        <p:nvSpPr>
          <p:cNvPr id="45" name="node-62">
            <a:extLst xmlns:a="http://schemas.openxmlformats.org/drawingml/2006/main">
              <a:ext uri="{FF2B5EF4-FFF2-40B4-BE49-F238E27FC236}">
                <a16:creationId xmlns:a16="http://schemas.microsoft.com/office/drawing/2014/main" id="{1BA2341D-01E5-42F5-B0CB-BF7E2724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93420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Orquestación externa / Lakeflow Jobs</a:t>
            </a:r>
          </a:p>
        </p:txBody>
      </p:sp>
      <p:sp>
        <p:nvSpPr>
          <p:cNvPr id="46" name="node-63">
            <a:extLst xmlns:a="http://schemas.openxmlformats.org/drawingml/2006/main">
              <a:ext uri="{FF2B5EF4-FFF2-40B4-BE49-F238E27FC236}">
                <a16:creationId xmlns:a16="http://schemas.microsoft.com/office/drawing/2014/main" id="{BDAD9FFE-9342-4A55-886A-A41642FD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7258050"/>
            <a:ext cx="5448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Lotes programados; fija ejecución, input y versiones</a:t>
            </a:r>
          </a:p>
        </p:txBody>
      </p:sp>
      <p:sp>
        <p:nvSpPr>
          <p:cNvPr id="47" name="node-64">
            <a:extLst xmlns:a="http://schemas.openxmlformats.org/drawingml/2006/main">
              <a:ext uri="{FF2B5EF4-FFF2-40B4-BE49-F238E27FC236}">
                <a16:creationId xmlns:a16="http://schemas.microsoft.com/office/drawing/2014/main" id="{6AD7D5DA-221A-455D-9F6D-55EE4364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2209800" cy="1219200"/>
          </a:xfrm>
          <a:prstGeom xmlns:a="http://schemas.openxmlformats.org/drawingml/2006/main" prst="can">
            <a:avLst>
              <a:gd name="adj" fmla="val 6000"/>
            </a:avLst>
          </a:prstGeom>
          <a:solidFill xmlns:a="http://schemas.openxmlformats.org/drawingml/2006/main">
            <a:srgbClr val="E7F1F2"/>
          </a:solidFill>
          <a:ln xmlns:a="http://schemas.openxmlformats.org/drawingml/2006/main" w="15240">
            <a:solidFill>
              <a:srgbClr val="77989C"/>
            </a:solidFill>
          </a:ln>
        </p:spPr>
      </p:sp>
      <p:sp>
        <p:nvSpPr>
          <p:cNvPr id="48" name="node-65">
            <a:extLst xmlns:a="http://schemas.openxmlformats.org/drawingml/2006/main">
              <a:ext uri="{FF2B5EF4-FFF2-40B4-BE49-F238E27FC236}">
                <a16:creationId xmlns:a16="http://schemas.microsoft.com/office/drawing/2014/main" id="{3DF170D2-5DBC-4F7F-9F56-62398448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105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Fuentes</a:t>
            </a:r>
          </a:p>
        </p:txBody>
      </p:sp>
      <p:sp>
        <p:nvSpPr>
          <p:cNvPr id="49" name="node-66">
            <a:extLst xmlns:a="http://schemas.openxmlformats.org/drawingml/2006/main">
              <a:ext uri="{FF2B5EF4-FFF2-40B4-BE49-F238E27FC236}">
                <a16:creationId xmlns:a16="http://schemas.microsoft.com/office/drawing/2014/main" id="{712CC1E7-44B7-4D3F-9044-EDFDF485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34425"/>
            <a:ext cx="1866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Tablas existentes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Campos tipados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Datos por cliente</a:t>
            </a:r>
          </a:p>
        </p:txBody>
      </p:sp>
      <p:sp>
        <p:nvSpPr>
          <p:cNvPr id="50" name="node-67">
            <a:extLst xmlns:a="http://schemas.openxmlformats.org/drawingml/2006/main">
              <a:ext uri="{FF2B5EF4-FFF2-40B4-BE49-F238E27FC236}">
                <a16:creationId xmlns:a16="http://schemas.microsoft.com/office/drawing/2014/main" id="{00906D6F-605F-4B8D-BA06-C04956C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248650"/>
            <a:ext cx="2352675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15240">
            <a:solidFill>
              <a:srgbClr val="829E91"/>
            </a:solidFill>
          </a:ln>
        </p:spPr>
      </p:sp>
      <p:sp>
        <p:nvSpPr>
          <p:cNvPr id="51" name="node-68">
            <a:extLst xmlns:a="http://schemas.openxmlformats.org/drawingml/2006/main">
              <a:ext uri="{FF2B5EF4-FFF2-40B4-BE49-F238E27FC236}">
                <a16:creationId xmlns:a16="http://schemas.microsoft.com/office/drawing/2014/main" id="{AB2F5055-13C7-4631-9D77-442F5C28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83915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Materializador</a:t>
            </a:r>
          </a:p>
        </p:txBody>
      </p:sp>
      <p:sp>
        <p:nvSpPr>
          <p:cNvPr id="52" name="node-69">
            <a:extLst xmlns:a="http://schemas.openxmlformats.org/drawingml/2006/main">
              <a:ext uri="{FF2B5EF4-FFF2-40B4-BE49-F238E27FC236}">
                <a16:creationId xmlns:a16="http://schemas.microsoft.com/office/drawing/2014/main" id="{9BA8D662-DE1F-428B-B61F-EDB440A0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8715375"/>
            <a:ext cx="2009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DSL de inputs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Uniones 1:1 / 1:N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Una fila por cliente</a:t>
            </a:r>
          </a:p>
        </p:txBody>
      </p:sp>
      <p:sp>
        <p:nvSpPr>
          <p:cNvPr id="53" name="node-70">
            <a:extLst xmlns:a="http://schemas.openxmlformats.org/drawingml/2006/main">
              <a:ext uri="{FF2B5EF4-FFF2-40B4-BE49-F238E27FC236}">
                <a16:creationId xmlns:a16="http://schemas.microsoft.com/office/drawing/2014/main" id="{317AE160-44E0-425C-83AA-D54870E9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105775"/>
            <a:ext cx="2686050" cy="1362075"/>
          </a:xfrm>
          <a:prstGeom xmlns:a="http://schemas.openxmlformats.org/drawingml/2006/main" prst="can">
            <a:avLst>
              <a:gd name="adj" fmla="val 6000"/>
            </a:avLst>
          </a:prstGeom>
          <a:solidFill xmlns:a="http://schemas.openxmlformats.org/drawingml/2006/main">
            <a:srgbClr val="E7F1F2"/>
          </a:solidFill>
          <a:ln xmlns:a="http://schemas.openxmlformats.org/drawingml/2006/main" w="15240">
            <a:solidFill>
              <a:srgbClr val="77989C"/>
            </a:solidFill>
          </a:ln>
        </p:spPr>
      </p:sp>
      <p:sp>
        <p:nvSpPr>
          <p:cNvPr id="54" name="node-71">
            <a:extLst xmlns:a="http://schemas.openxmlformats.org/drawingml/2006/main">
              <a:ext uri="{FF2B5EF4-FFF2-40B4-BE49-F238E27FC236}">
                <a16:creationId xmlns:a16="http://schemas.microsoft.com/office/drawing/2014/main" id="{00C8C503-7EE1-41AD-B267-94F7D391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82677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Input consolidado</a:t>
            </a:r>
          </a:p>
        </p:txBody>
      </p:sp>
      <p:sp>
        <p:nvSpPr>
          <p:cNvPr id="55" name="node-72">
            <a:extLst xmlns:a="http://schemas.openxmlformats.org/drawingml/2006/main">
              <a:ext uri="{FF2B5EF4-FFF2-40B4-BE49-F238E27FC236}">
                <a16:creationId xmlns:a16="http://schemas.microsoft.com/office/drawing/2014/main" id="{1161B3EE-CAEF-4562-8FF1-C457F3D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85915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ID de ejecución + fecha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Cliente + versión + autor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fields: JSON tipado</a:t>
            </a:r>
          </a:p>
        </p:txBody>
      </p:sp>
      <p:sp>
        <p:nvSpPr>
          <p:cNvPr id="56" name="node-73">
            <a:extLst xmlns:a="http://schemas.openxmlformats.org/drawingml/2006/main">
              <a:ext uri="{FF2B5EF4-FFF2-40B4-BE49-F238E27FC236}">
                <a16:creationId xmlns:a16="http://schemas.microsoft.com/office/drawing/2014/main" id="{4FE67B86-1BCE-4A98-8B30-1CD2D353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8105775"/>
            <a:ext cx="2657475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15240">
            <a:solidFill>
              <a:srgbClr val="829E91"/>
            </a:solidFill>
          </a:ln>
        </p:spPr>
      </p:sp>
      <p:sp>
        <p:nvSpPr>
          <p:cNvPr id="57" name="node-74">
            <a:extLst xmlns:a="http://schemas.openxmlformats.org/drawingml/2006/main">
              <a:ext uri="{FF2B5EF4-FFF2-40B4-BE49-F238E27FC236}">
                <a16:creationId xmlns:a16="http://schemas.microsoft.com/office/drawing/2014/main" id="{35E5863B-A58E-4C4D-9443-F35BF19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8248650"/>
            <a:ext cx="2314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Motor de evaluación</a:t>
            </a:r>
          </a:p>
        </p:txBody>
      </p:sp>
      <p:sp>
        <p:nvSpPr>
          <p:cNvPr id="58" name="node-75">
            <a:extLst xmlns:a="http://schemas.openxmlformats.org/drawingml/2006/main">
              <a:ext uri="{FF2B5EF4-FFF2-40B4-BE49-F238E27FC236}">
                <a16:creationId xmlns:a16="http://schemas.microsoft.com/office/drawing/2014/main" id="{4276E31F-A0B9-498A-B8B0-E1460815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8572500"/>
            <a:ext cx="23145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Python / Spark (destino)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Variables y reglas</a:t>
            </a:r>
          </a:p>
          <a:p xmlns:a="http://schemas.openxmlformats.org/drawingml/2006/main">
            <a:pPr algn="l">
              <a:def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Lógica de productos</a:t>
            </a:r>
          </a:p>
        </p:txBody>
      </p:sp>
      <p:sp>
        <p:nvSpPr>
          <p:cNvPr id="59" name="node-76">
            <a:extLst xmlns:a="http://schemas.openxmlformats.org/drawingml/2006/main">
              <a:ext uri="{FF2B5EF4-FFF2-40B4-BE49-F238E27FC236}">
                <a16:creationId xmlns:a16="http://schemas.microsoft.com/office/drawing/2014/main" id="{2A9D0F74-971C-47AA-B2CF-F4D29EC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791325"/>
            <a:ext cx="4343400" cy="819150"/>
          </a:xfrm>
          <a:prstGeom xmlns:a="http://schemas.openxmlformats.org/drawingml/2006/main" prst="can">
            <a:avLst>
              <a:gd name="adj" fmla="val 6000"/>
            </a:avLst>
          </a:prstGeom>
          <a:solidFill xmlns:a="http://schemas.openxmlformats.org/drawingml/2006/main">
            <a:srgbClr val="E7F1F2"/>
          </a:solidFill>
          <a:ln xmlns:a="http://schemas.openxmlformats.org/drawingml/2006/main" w="15240">
            <a:solidFill>
              <a:srgbClr val="77989C"/>
            </a:solidFill>
          </a:ln>
        </p:spPr>
      </p:sp>
      <p:sp>
        <p:nvSpPr>
          <p:cNvPr id="60" name="node-77">
            <a:extLst xmlns:a="http://schemas.openxmlformats.org/drawingml/2006/main">
              <a:ext uri="{FF2B5EF4-FFF2-40B4-BE49-F238E27FC236}">
                <a16:creationId xmlns:a16="http://schemas.microsoft.com/office/drawing/2014/main" id="{C34AE55F-8CA9-4162-A42C-0B8DF6DC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695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Evaluación por cliente / producto</a:t>
            </a:r>
          </a:p>
        </p:txBody>
      </p:sp>
      <p:sp>
        <p:nvSpPr>
          <p:cNvPr id="61" name="node-78">
            <a:extLst xmlns:a="http://schemas.openxmlformats.org/drawingml/2006/main">
              <a:ext uri="{FF2B5EF4-FFF2-40B4-BE49-F238E27FC236}">
                <a16:creationId xmlns:a16="http://schemas.microsoft.com/office/drawing/2014/main" id="{E6FCF1A7-C67B-4C81-B69F-B6AF6D2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27710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Ejecución, versión, resultado y detalles</a:t>
            </a:r>
          </a:p>
        </p:txBody>
      </p:sp>
      <p:sp>
        <p:nvSpPr>
          <p:cNvPr id="62" name="node-79">
            <a:extLst xmlns:a="http://schemas.openxmlformats.org/drawingml/2006/main">
              <a:ext uri="{FF2B5EF4-FFF2-40B4-BE49-F238E27FC236}">
                <a16:creationId xmlns:a16="http://schemas.microsoft.com/office/drawing/2014/main" id="{8DF53FFF-16A0-4344-B240-CA34BE82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724775"/>
            <a:ext cx="4343400" cy="819150"/>
          </a:xfrm>
          <a:prstGeom xmlns:a="http://schemas.openxmlformats.org/drawingml/2006/main" prst="can">
            <a:avLst>
              <a:gd name="adj" fmla="val 6000"/>
            </a:avLst>
          </a:prstGeom>
          <a:solidFill xmlns:a="http://schemas.openxmlformats.org/drawingml/2006/main">
            <a:srgbClr val="E7F1F2"/>
          </a:solidFill>
          <a:ln xmlns:a="http://schemas.openxmlformats.org/drawingml/2006/main" w="15240">
            <a:solidFill>
              <a:srgbClr val="77989C"/>
            </a:solidFill>
          </a:ln>
        </p:spPr>
      </p:sp>
      <p:sp>
        <p:nvSpPr>
          <p:cNvPr id="63" name="node-80">
            <a:extLst xmlns:a="http://schemas.openxmlformats.org/drawingml/2006/main">
              <a:ext uri="{FF2B5EF4-FFF2-40B4-BE49-F238E27FC236}">
                <a16:creationId xmlns:a16="http://schemas.microsoft.com/office/drawing/2014/main" id="{561931B5-8B88-40B8-8BF7-67385881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886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Variables materializadas</a:t>
            </a:r>
          </a:p>
        </p:txBody>
      </p:sp>
      <p:sp>
        <p:nvSpPr>
          <p:cNvPr id="64" name="node-81">
            <a:extLst xmlns:a="http://schemas.openxmlformats.org/drawingml/2006/main">
              <a:ext uri="{FF2B5EF4-FFF2-40B4-BE49-F238E27FC236}">
                <a16:creationId xmlns:a16="http://schemas.microsoft.com/office/drawing/2014/main" id="{E25BA39C-2E91-4BC9-B4A6-55A57AC6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82105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Cliente / ejecución, valores y traza</a:t>
            </a:r>
          </a:p>
        </p:txBody>
      </p:sp>
      <p:sp>
        <p:nvSpPr>
          <p:cNvPr id="65" name="node-82">
            <a:extLst xmlns:a="http://schemas.openxmlformats.org/drawingml/2006/main">
              <a:ext uri="{FF2B5EF4-FFF2-40B4-BE49-F238E27FC236}">
                <a16:creationId xmlns:a16="http://schemas.microsoft.com/office/drawing/2014/main" id="{E753A20F-53D6-44D1-8498-2E55057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658225"/>
            <a:ext cx="4343400" cy="819150"/>
          </a:xfrm>
          <a:prstGeom xmlns:a="http://schemas.openxmlformats.org/drawingml/2006/main" prst="can">
            <a:avLst>
              <a:gd name="adj" fmla="val 6000"/>
            </a:avLst>
          </a:prstGeom>
          <a:solidFill xmlns:a="http://schemas.openxmlformats.org/drawingml/2006/main">
            <a:srgbClr val="E7F1F2"/>
          </a:solidFill>
          <a:ln xmlns:a="http://schemas.openxmlformats.org/drawingml/2006/main" w="15240">
            <a:solidFill>
              <a:srgbClr val="77989C"/>
            </a:solidFill>
          </a:ln>
        </p:spPr>
      </p:sp>
      <p:sp>
        <p:nvSpPr>
          <p:cNvPr id="66" name="node-83">
            <a:extLst xmlns:a="http://schemas.openxmlformats.org/drawingml/2006/main">
              <a:ext uri="{FF2B5EF4-FFF2-40B4-BE49-F238E27FC236}">
                <a16:creationId xmlns:a16="http://schemas.microsoft.com/office/drawing/2014/main" id="{147A0736-7735-4E63-B76C-A40CF68E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8820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364B"/>
                </a:solidFill>
                <a:latin typeface="Helvetica Neue"/>
                <a:ea typeface="Helvetica Neue"/>
                <a:cs typeface="Helvetica Neue"/>
              </a:rPr>
              <a:t>Reglas y resultados</a:t>
            </a:r>
          </a:p>
        </p:txBody>
      </p:sp>
      <p:sp>
        <p:nvSpPr>
          <p:cNvPr id="67" name="node-84">
            <a:extLst xmlns:a="http://schemas.openxmlformats.org/drawingml/2006/main">
              <a:ext uri="{FF2B5EF4-FFF2-40B4-BE49-F238E27FC236}">
                <a16:creationId xmlns:a16="http://schemas.microsoft.com/office/drawing/2014/main" id="{279D1F77-7A3B-44EE-A698-E2A492BD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914400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Reglas, versiones, resultados y errores</a:t>
            </a:r>
          </a:p>
        </p:txBody>
      </p:sp>
      <p:cxnSp>
        <p:nvCxnSpPr>
          <p:cNvPr id="146" name=""/>
          <p:cNvCxnSpPr>
            <a:stCxn xmlns:a="http://schemas.openxmlformats.org/drawingml/2006/main" id="3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048625" y="5895975"/>
            <a:ext cx="1081088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9A8EAC"/>
            </a:solidFill>
            <a:prstDash val="dash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1" idx="4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829300" y="72294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47" idx="4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990850" y="88582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50" idx="3"/>
            <a:endCxn xmlns:a="http://schemas.openxmlformats.org/drawingml/2006/main" id="53" idx="2"/>
          </p:cNvCxnSpPr>
          <p:nvPr/>
        </p:nvCxnSpPr>
        <p:spPr>
          <a:xfrm xmlns:a="http://schemas.openxmlformats.org/drawingml/2006/main" flipV="1">
            <a:off x="5829300" y="8786813"/>
            <a:ext cx="438150" cy="714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53" idx="4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953500" y="8786813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151" name=""/>
          <p:cNvCxnSpPr>
            <a:stCxn xmlns:a="http://schemas.openxmlformats.org/drawingml/2006/main" id="41" idx="3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3305175" y="7667625"/>
            <a:ext cx="1347788" cy="581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152" name=""/>
          <p:cNvCxnSpPr>
            <a:stCxn xmlns:a="http://schemas.openxmlformats.org/drawingml/2006/main" id="44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9163050" y="7667625"/>
            <a:ext cx="1566863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67E92"/>
            </a:solidFill>
            <a:prstDash val="solid"/>
            <a:tailEnd type="triangle" w="sm" len="sm"/>
          </a:ln>
        </p:spPr>
      </p:cxnSp>
      <p:cxnSp>
        <p:nvCxnSpPr>
          <p:cNvPr id="153" name=""/>
          <p:cNvCxnSpPr>
            <a:stCxn xmlns:a="http://schemas.openxmlformats.org/drawingml/2006/main" id="56" idx="3"/>
            <a:endCxn xmlns:a="http://schemas.openxmlformats.org/drawingml/2006/main" id="59" idx="2"/>
          </p:cNvCxnSpPr>
          <p:nvPr/>
        </p:nvCxnSpPr>
        <p:spPr>
          <a:xfrm xmlns:a="http://schemas.openxmlformats.org/drawingml/2006/main" flipV="1">
            <a:off x="12058650" y="7200900"/>
            <a:ext cx="1047750" cy="1585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67E92"/>
            </a:solidFill>
            <a:tailEnd type="triangle" w="sm" len="sm"/>
          </a:ln>
        </p:spPr>
      </p:cxnSp>
      <p:cxnSp>
        <p:nvCxnSpPr>
          <p:cNvPr id="154" name=""/>
          <p:cNvCxnSpPr>
            <a:stCxn xmlns:a="http://schemas.openxmlformats.org/drawingml/2006/main" id="56" idx="3"/>
            <a:endCxn xmlns:a="http://schemas.openxmlformats.org/drawingml/2006/main" id="62" idx="2"/>
          </p:cNvCxnSpPr>
          <p:nvPr/>
        </p:nvCxnSpPr>
        <p:spPr>
          <a:xfrm xmlns:a="http://schemas.openxmlformats.org/drawingml/2006/main" flipV="1">
            <a:off x="12058650" y="8134350"/>
            <a:ext cx="1047750" cy="652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67E92"/>
            </a:solidFill>
            <a:tailEnd type="triangle" w="sm" len="sm"/>
          </a:ln>
        </p:spPr>
      </p:cxnSp>
      <p:cxnSp>
        <p:nvCxnSpPr>
          <p:cNvPr id="155" name=""/>
          <p:cNvCxnSpPr>
            <a:stCxn xmlns:a="http://schemas.openxmlformats.org/drawingml/2006/main" id="56" idx="3"/>
            <a:endCxn xmlns:a="http://schemas.openxmlformats.org/drawingml/2006/main" id="65" idx="2"/>
          </p:cNvCxnSpPr>
          <p:nvPr/>
        </p:nvCxnSpPr>
        <p:spPr>
          <a:xfrm xmlns:a="http://schemas.openxmlformats.org/drawingml/2006/main">
            <a:off x="12058650" y="8786813"/>
            <a:ext cx="1047750" cy="280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67E92"/>
            </a:solidFill>
            <a:tailEnd type="triangle" w="sm" len="sm"/>
          </a:ln>
        </p:spPr>
      </p:cxnSp>
      <p:sp>
        <p:nvSpPr>
          <p:cNvPr id="78" name="node-85">
            <a:extLst xmlns:a="http://schemas.openxmlformats.org/drawingml/2006/main">
              <a:ext uri="{FF2B5EF4-FFF2-40B4-BE49-F238E27FC236}">
                <a16:creationId xmlns:a16="http://schemas.microsoft.com/office/drawing/2014/main" id="{C4B07623-A8E5-4C67-B81F-F295A30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15525"/>
            <a:ext cx="1685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B7D"/>
                </a:solidFill>
                <a:latin typeface="Helvetica Neue"/>
                <a:ea typeface="Helvetica Neue"/>
                <a:cs typeface="Helvetica Neue"/>
              </a:rPr>
              <a:t>A = publicación del DSL aprobado. Flujo de datos repetido en edv y prod. Partición del input: execution_id. Error aislable: null + diagnóstico.</a:t>
            </a:r>
          </a:p>
        </p:txBody>
      </p:sp>
    </p:spTree>
    <p:extLst>
      <p:ext uri="{BB962C8B-B14F-4D97-AF65-F5344CB8AC3E}">
        <p14:creationId xmlns:p14="http://schemas.microsoft.com/office/powerpoint/2010/main" val="733424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2026-09-18T14:31:02.7160000Z</dcterms:created>
  <dcterms:modified xsi:type="dcterms:W3CDTF">2026-09-18T14:31:02.7160000Z</dcterms:modified>
</coreProperties>
</file>